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CA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CA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D1277FE-8D64-491D-8D58-FC64C7E5CA2D}" type="slidenum"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three-person team was falling apart over their final project.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robot arm with IoT sensors and a tiny vision ML loop. The leader was capable.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pre-engineer was meticulous. And the system kept failing.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Then the third student, quiet, barely passing, spoke up: "What if the red wire isn't working?"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pre-engineer sighed: "That is an easy test." He swapped it.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robot came alive, smooth, stable, perfect.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breakthrough came from inclusion. From the voice no one expected to matter.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Now imagine a world where only a handful of cloud companies decide how we solve society's hardest problems.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That's a world with only two students at the table. Democratizing AI isn't optional.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It's how we keep the future from failing because of a bad red wire.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held a small ceremony that day, and tossed that red wire straight into the garbage.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E4F276-7F57-49EE-A7E0-D84DC10E2EC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I'm here with one mission: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 schools, from six different countries, to pilot Maker100 Leaders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Robotics this academic year. Three to thirty students per school.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Hardware cost: ~$200 USD per student plus tax, import duties and shipping for the XIAO ML Kit and supporting components,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purchased directly by your school. I make nothing from the hardware, but I only support the platform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I've stress-tested for years in my own classroom.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goal: gather hard student data over one full year, then return to a stage like this with the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needed to scale globally.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EA2404-DF54-4AD4-849A-3268C2591D2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 am Jeremy Ellis. I have taught technology for over 30 years in British Columbia, Canada.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 founded the Github Organization webmcu-ai, a framework for fully on-device ML training, and I co-chair the AiEng4D Show and Tell,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where Global South university students present TinyML and Edge AI projects.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Students see AI reshaping every industry. They have a choice: ride along with tools built by others, or learn how those tools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work and become the people who build what comes next. This course is for pre-engineers, leaders, and makers, anyone willing to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solve hard problems. The pre-engineers teach me. The leaders look outward while digging deeper. I just create the conditions.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B2EC02-71EB-45EF-A11C-B58B40377C8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not an easy course. That is the whole point.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During Maker100 Leaders Robotics students solve 40–60 robotics, ML, sensor, actuator, and IoT challenges, then teach others their solutions.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lectures. All 60+ assignments are tracked on a public or private chart, completed in any order.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Then they complete: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level 1 final project (course pass): single sensor, MCU, single actuator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a level 2 final project (higher mark): multiple sensors/actuators with Machine Learning and/or IoT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Group work is optional and often teacher-assigned. For most of the course, students work collaboratively but on their own hardware,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avoiding the group-labour trap where one student codes while another just wires.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40DEC5-B426-4C89-B654-EC0D4322E32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you are the first person to solve an assignment, you must teach three others.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Rule of Lead Three is that those students who solve a problem teach three others, who then teach three more.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maximum mark of 90% rises toward 100% as classroom collaboration increases.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I'm completely comfortable with ten students earning 100%.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It hurts no one, and it transforms the tone, communication, confidence, and joy of the room.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A57BBF-55F7-4B33-B86A-5E2C1A93FDC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Think before you act. Paper before power.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Analog Firewall: The class always starts here: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Code is summarized on paper before loading onto the microcontroller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Circuit diagrams are drawn by hand and checked by a lead student before wiring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Power connects only after a second check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hardware failure caught on paper costs nothing. A failure after a short circuit has a real cost.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A36C51-2094-48D2-B321-73411AE4305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common industrial TinyML workflow is: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Collect data, train in the cloud, deploy to edge, and that is still taught here.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Students use Edge Impulse and SenseCraft to experience the industry approach.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Then we go deeper: what if students build the entire pipeline themselves, on the microcontroller,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from mathematical foundations? No TensorFlow. No hidden training service. Students see everything: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energy use, data collection, backpropagation, optimization, inference.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Inspired by Vijay Reddi's tinyTorch and mlsysbook.ai,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 adapted that philosophy into Arduino-compatible code, with help from LLMs.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ArXiv Papers: 2604.23012 &amp; 2604.22834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Working pipelines: vision classification, FOMO object detection (XY), anomaly detection, sound classification, motion classification,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regression inference.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first WebSerial training system took 147 versions. Real technology is rarely created perfectly the first time.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592C2F-FE43-4810-B225-0884806D9EB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YouTube: https://www.youtube.com/watch?v=R--9WL-hWok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BF5818-BAE6-4B41-8AB5-BB674EB0781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question is whether they understand these tools, or become dependent on them.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Why not run an LLM locally, as a Progressive Web App? A student's computer becomes a private AI lab assistant, no student data sent anywhere.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Privacy alone makes this worth doing. But the deeper point: if students only experience AI through a few enormous platforms,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they become consumers of tools they don't understand. Putting AI tools in classrooms everywhere lets more students become creators.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A36123-9ABC-4D8D-9EF4-71C3C15AE8A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YouTube: https://www.youtube.com/watch?v=XMPbJGTGS-I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331B25-20BD-4F69-8179-1E6CEA4C0E3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YouTube: https://www.youtube.com/watch?v=EQROY5YoumI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D26584-EA25-4EBB-9EDA-93206D5B19C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most important thing I ever did was get out of the way.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Last year I took a semester off. Students struggled, and learned deeper.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From that class: a grade 12 girl won the Canadian National Schulich Scholarship for $120,000,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the following year a boy, from the same class, won the Canadian National Loran Scholarship for $100,000.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Those students were already impressive, I'm not claiming the course made them.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surprised me was what changed when the teacher stopped being the center of learning. I stepped back and they stepped up.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But that wasn't the only thing I noticed. Students who had been quietly anxious about AI, about their futures, about being replaced, started talking differently.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 because the concern went away. Because they understood enough to hold it steady.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That's harder to measure than a scholarship. But I'd argue it matters just as much.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5DAEDE-5CA6-47F4-AFEB-4B93C509C99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teacher, steps back, but does not disappear.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year one, the teacher is a technology counsellor and an emotional counsellor, keeping circuits safe and naming struggle as growth.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That second role matters more than it used to. Students arrive wired for instant feedback, phones rewarding every tap with dopamine.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Struggle feels like failure at first. The teacher's job is to reframe it, to help students discover that solving something genuinely hard produces something phones never can: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slower, deeper satisfaction that doesn't fade in thirty seconds. Once students feel that, they start to prefer it.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Deep hardware expertise isn't required on day one. Microcontrollers have a one-to-six year lifespan before something better and cheaper arrives;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heavy training tied to specific hardware doesn't survive a hardware generation. This course structure does.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By year two, the teacher has lived it once. They know exactly where students get stuck, and that becomes precise five-minute micro-lectures placed at real pain points,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 lectures delivered before anyone needs them.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4638C6-EEFB-465F-9048-C1F4186F7DD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You are in one of the best places on the planet to do that.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you need: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 least three pre-engineers each semester willing to work hard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3–30 students, grades 9–12 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~$200 USD/student + tax + shipping to start; ~$50/year for replacement parts (yes, we break things)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computer lab, ideally with a 3D printer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teacher sponsor willing to co-learn, not lecture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 support each class three times during year one: at the start for safety, midway when students hit unsolvable problems,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near the end for Level 2 challenges. 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Teachers who are Arduino wizards with an Edge Impulse login may want to run independently and connect next year.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Hardware price list:   https://hpssjellis.github.io/maker100-leaders-robotics/price-list-2026.html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0ACC65-56A2-4536-9E84-AB5A7B34DD6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Leadership locally and Globally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Some schools will have tried. All will have struggled. Some students will have built things none of us expected.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pilot isn't a rollout, it's a measurement phase. Six schools show us what works, what breaks,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what must change before we scale. The schools that succeed don't just celebrate their own wins;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they become the blueprint to raise funds for those who couldn't start today.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First, you build for your community. Then you lead for the world.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need the third student at the table. The voice no one expected. The person who sees the simple truth the experts miss. 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I'm not arguing everyone becomes an AI engineer, I'm arguing everyone deserves enough understanding to participate in the future.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students who built something here aren't just more employable. They're less afraid.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Don't let the future fail because of a bad red wire. Thank you.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97C9E4-24AB-456A-AA3A-6A7FC6D72BD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Resources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C6A3C3-A335-4798-92EB-A1AB1D5C99F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A24593-108D-49E3-B387-B0E2643351B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CA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CA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R--9WL-hWok" TargetMode="External"/><Relationship Id="rId2" Type="http://schemas.openxmlformats.org/officeDocument/2006/relationships/hyperlink" Target="https://www.youtube.com/watch?v=R--9WL-hWo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XMPbJGTGS-I" TargetMode="External"/><Relationship Id="rId2" Type="http://schemas.openxmlformats.org/officeDocument/2006/relationships/hyperlink" Target="https://www.youtube.com/watch?v=XMPbJGTGS-I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EQROY5YoumI" TargetMode="External"/><Relationship Id="rId2" Type="http://schemas.openxmlformats.org/officeDocument/2006/relationships/hyperlink" Target="https://www.youtube.com/watch?v=EQROY5YoumI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ca.linkedin.com/in/jeremy-ellis-4237a9bb" TargetMode="External"/><Relationship Id="rId2" Type="http://schemas.openxmlformats.org/officeDocument/2006/relationships/hyperlink" Target="https://ca.linkedin.com/in/jeremy-ellis-4237a9bb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The Red Wire Story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Don't let the future fail because of a bad red wire.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 three-person team was falling apart over their final project.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preencoded.png"/>
          <p:cNvPicPr/>
          <p:nvPr/>
        </p:nvPicPr>
        <p:blipFill>
          <a:blip r:embed="rId1"/>
          <a:stretch/>
        </p:blipFill>
        <p:spPr>
          <a:xfrm>
            <a:off x="2697480" y="487800"/>
            <a:ext cx="6400440" cy="417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Course Pilot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 Schools, Six Countries, $200 per student.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I'm here with one mission: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0" descr="preencoded.png"/>
          <p:cNvPicPr/>
          <p:nvPr/>
        </p:nvPicPr>
        <p:blipFill>
          <a:blip r:embed="rId1"/>
          <a:stretch/>
        </p:blipFill>
        <p:spPr>
          <a:xfrm>
            <a:off x="2697480" y="315000"/>
            <a:ext cx="6400440" cy="451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Who Am I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 don't teach leaders. I put students in situations where they discover they are a leader.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I am Jeremy Ellis. I have taught technology for over 30 years in British Columbia, Canada.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preencoded.png"/>
          <p:cNvPicPr/>
          <p:nvPr/>
        </p:nvPicPr>
        <p:blipFill>
          <a:blip r:embed="rId1"/>
          <a:stretch/>
        </p:blipFill>
        <p:spPr>
          <a:xfrm>
            <a:off x="2697480" y="315000"/>
            <a:ext cx="6400440" cy="451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4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The Course: Maker100 Leaders Robotics.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Open source, free, and always updatable at github.com/hpssjellis/maker100-leaders-robotics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This is not an easy course. That is the whole point.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preencoded.png"/>
          <p:cNvPicPr/>
          <p:nvPr/>
        </p:nvPicPr>
        <p:blipFill>
          <a:blip r:embed="rId1"/>
          <a:stretch/>
        </p:blipFill>
        <p:spPr>
          <a:xfrm>
            <a:off x="2697480" y="907920"/>
            <a:ext cx="6400440" cy="333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The Rule of Lead Three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Learning is Collaborative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If you are the first person to solve an assignment, you must teach three others.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0" descr="preencoded.png"/>
          <p:cNvPicPr/>
          <p:nvPr/>
        </p:nvPicPr>
        <p:blipFill>
          <a:blip r:embed="rId1"/>
          <a:stretch/>
        </p:blipFill>
        <p:spPr>
          <a:xfrm>
            <a:off x="2697480" y="315000"/>
            <a:ext cx="6400440" cy="451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6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The Analog Firewall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Handwritten Code Summarizies and drawn Circuit Diagrams Checked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Think before you act. Paper before power.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0" descr="preencoded.png"/>
          <p:cNvPicPr/>
          <p:nvPr/>
        </p:nvPicPr>
        <p:blipFill>
          <a:blip r:embed="rId1"/>
          <a:stretch/>
        </p:blipFill>
        <p:spPr>
          <a:xfrm>
            <a:off x="2697480" y="315000"/>
            <a:ext cx="6400440" cy="451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7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On-Device Machine Learning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Demo WebMCU-AI: The Full Machine Learning Pipeline on a $8-$22 USD Microcontroller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 common industrial TinyML workflow is: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0" descr="preencoded.png"/>
          <p:cNvPicPr/>
          <p:nvPr/>
        </p:nvPicPr>
        <p:blipFill>
          <a:blip r:embed="rId1"/>
          <a:stretch/>
        </p:blipFill>
        <p:spPr>
          <a:xfrm>
            <a:off x="2697480" y="315360"/>
            <a:ext cx="6400440" cy="451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274320" y="4572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8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WebSerial Vision Classification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274320" y="365760"/>
            <a:ext cx="8595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trike="noStrike" u="none">
                <a:solidFill>
                  <a:srgbClr val="444444"/>
                </a:solidFill>
                <a:effectLst/>
                <a:uFillTx/>
                <a:latin typeface="Calibri"/>
              </a:rPr>
              <a:t>Video Demo — see link below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>
            <a:hlinkClick r:id="rId1"/>
          </p:cNvPr>
          <p:cNvSpPr/>
          <p:nvPr/>
        </p:nvSpPr>
        <p:spPr>
          <a:xfrm>
            <a:off x="274320" y="1188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sng">
                <a:solidFill>
                  <a:srgbClr val="0563c1"/>
                </a:solidFill>
                <a:effectLst/>
                <a:uFillTx/>
                <a:latin typeface="Calibri"/>
                <a:hlinkClick r:id="rId2"/>
              </a:rPr>
              <a:t>▶  Watch: https://www.youtube.com/watch?v=R--9WL-hWok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9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Local AI and Why It Matters. LLMs as lab assistants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 are already using AI assistants.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The question is whether they understand these tools, or become dependent on them.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1"/>
          <a:stretch/>
        </p:blipFill>
        <p:spPr>
          <a:xfrm>
            <a:off x="2697480" y="1210320"/>
            <a:ext cx="6400440" cy="272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274320" y="4572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Offline Ollama running Gemma4:12B from PWA webpage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274320" y="365760"/>
            <a:ext cx="8595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trike="noStrike" u="none">
                <a:solidFill>
                  <a:srgbClr val="444444"/>
                </a:solidFill>
                <a:effectLst/>
                <a:uFillTx/>
                <a:latin typeface="Calibri"/>
              </a:rPr>
              <a:t>Video Demo — see link below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>
            <a:hlinkClick r:id="rId1"/>
          </p:cNvPr>
          <p:cNvSpPr/>
          <p:nvPr/>
        </p:nvSpPr>
        <p:spPr>
          <a:xfrm>
            <a:off x="274320" y="1188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sng">
                <a:solidFill>
                  <a:srgbClr val="0563c1"/>
                </a:solidFill>
                <a:effectLst/>
                <a:uFillTx/>
                <a:latin typeface="Calibri"/>
                <a:hlinkClick r:id="rId2"/>
              </a:rPr>
              <a:t>▶  Watch: https://www.youtube.com/watch?v=XMPbJGTGS-I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274320" y="4572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11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Offline Gemma4 from webpage PWA Directly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274320" y="365760"/>
            <a:ext cx="8595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trike="noStrike" u="none">
                <a:solidFill>
                  <a:srgbClr val="444444"/>
                </a:solidFill>
                <a:effectLst/>
                <a:uFillTx/>
                <a:latin typeface="Calibri"/>
              </a:rPr>
              <a:t>Video Demo — see link below</a:t>
            </a:r>
            <a:endParaRPr b="0" lang="en-CA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>
            <a:hlinkClick r:id="rId1"/>
          </p:cNvPr>
          <p:cNvSpPr/>
          <p:nvPr/>
        </p:nvSpPr>
        <p:spPr>
          <a:xfrm>
            <a:off x="274320" y="1188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sng">
                <a:solidFill>
                  <a:srgbClr val="0563c1"/>
                </a:solidFill>
                <a:effectLst/>
                <a:uFillTx/>
                <a:latin typeface="Calibri"/>
                <a:hlinkClick r:id="rId2"/>
              </a:rPr>
              <a:t>▶  Watch: https://www.youtube.com/watch?v=EQROY5YoumI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12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What I Learned From Stepping Back.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 30 years of teaching I had never had a student win a large scholarship. Then I took a semester off.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The most important thing I ever did was get out of the way.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0" descr="preencoded.png"/>
          <p:cNvPicPr/>
          <p:nvPr/>
        </p:nvPicPr>
        <p:blipFill>
          <a:blip r:embed="rId1"/>
          <a:stretch/>
        </p:blipFill>
        <p:spPr>
          <a:xfrm>
            <a:off x="2697480" y="315000"/>
            <a:ext cx="6400440" cy="451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13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Teachers matter.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Just differently in year one.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The teacher, steps back, but does not disappear.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2697480" y="315000"/>
            <a:ext cx="6400440" cy="451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14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The Pilot Proposal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 first leadership challenge is funding.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You are in one of the best places on the planet to do that.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0" descr="preencoded.png"/>
          <p:cNvPicPr/>
          <p:nvPr/>
        </p:nvPicPr>
        <p:blipFill>
          <a:blip r:embed="rId1"/>
          <a:stretch/>
        </p:blipFill>
        <p:spPr>
          <a:xfrm>
            <a:off x="2697480" y="315000"/>
            <a:ext cx="6400440" cy="451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15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Closing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 one year, we meet again.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Leadership locally and Globally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0" descr="preencoded.png"/>
          <p:cNvPicPr/>
          <p:nvPr/>
        </p:nvPicPr>
        <p:blipFill>
          <a:blip r:embed="rId1"/>
          <a:stretch/>
        </p:blipFill>
        <p:spPr>
          <a:xfrm>
            <a:off x="2697480" y="315000"/>
            <a:ext cx="6400440" cy="451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274320" y="457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16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Links and Resources</a:t>
            </a:r>
            <a:endParaRPr b="0" lang="en-CA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274320" y="365760"/>
            <a:ext cx="2285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Everything is open source and free.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274320" y="228600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Resources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0" descr="preencoded.png"/>
          <p:cNvPicPr/>
          <p:nvPr/>
        </p:nvPicPr>
        <p:blipFill>
          <a:blip r:embed="rId1"/>
          <a:stretch/>
        </p:blipFill>
        <p:spPr>
          <a:xfrm>
            <a:off x="2697480" y="315000"/>
            <a:ext cx="6400440" cy="451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7c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365760" y="2743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Jeremy Ellis — AI for Good Geneva 2026</a:t>
            </a:r>
            <a:endParaRPr b="0" lang="en-CA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0" name="Table 0"/>
          <p:cNvGraphicFramePr/>
          <p:nvPr/>
        </p:nvGraphicFramePr>
        <p:xfrm>
          <a:off x="180000" y="900000"/>
          <a:ext cx="8640000" cy="4140000"/>
        </p:xfrm>
        <a:graphic>
          <a:graphicData uri="http://schemas.openxmlformats.org/drawingml/2006/table">
            <a:tbl>
              <a:tblPr/>
              <a:tblGrid>
                <a:gridCol w="2879280"/>
                <a:gridCol w="2879280"/>
                <a:gridCol w="2881440"/>
              </a:tblGrid>
              <a:tr h="412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Resource</a:t>
                      </a:r>
                      <a:endParaRPr b="0" lang="en-CA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Link / Details</a:t>
                      </a:r>
                      <a:endParaRPr b="0" lang="en-CA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Comments</a:t>
                      </a:r>
                      <a:endParaRPr b="0" lang="en-CA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2e75b6"/>
                    </a:solidFill>
                  </a:tcPr>
                </a:tc>
              </a:tr>
              <a:tr h="3898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Author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hlinkClick r:id="rId1"/>
                        </a:rPr>
                        <a:t>Jeremy Ellis LinkedIn Profile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9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8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GitHub Profile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hlinkClick r:id="rId2"/>
                        </a:rPr>
                        <a:t>github.com/hpssjellis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9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8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On-Device webmcu-ai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github.com/webmcu-ai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arXiv Papers: 2604.23012 &amp; 2604.22834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WebSerial Vision Demo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webmcu-vision-pwa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On-device and webSerial Vision ML Training demo webpage and PWA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8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The Course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maker100-leaders-robotics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This is the course the students work through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8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The Curriculum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maker100-curriculum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This is the generic curriculum on Github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8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Hardware Price List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Hardware price-list-2026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The bare essential hardware.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8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Local LLM PWA Small ~2GB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Gemma4:e2B PWA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Running as webpage PWAs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16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Local LLM PWA Large ~7GB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Ollama Gemma4:12B PWA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Needs Ollama installed</a:t>
                      </a:r>
                      <a:endParaRPr b="0" lang="en-CA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6480">
                      <a:solidFill>
                        <a:srgbClr val="888888"/>
                      </a:solidFill>
                      <a:prstDash val="solid"/>
                    </a:lnL>
                    <a:lnR w="6480">
                      <a:solidFill>
                        <a:srgbClr val="888888"/>
                      </a:solidFill>
                      <a:prstDash val="solid"/>
                    </a:lnR>
                    <a:lnT w="6480">
                      <a:solidFill>
                        <a:srgbClr val="888888"/>
                      </a:solidFill>
                      <a:prstDash val="solid"/>
                    </a:lnT>
                    <a:lnB w="6480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2026-06-28T04:15:23Z</dcterms:created>
  <dc:creator>Jeremy Ellis</dc:creator>
  <dc:description/>
  <dc:language>en-CA</dc:language>
  <cp:lastModifiedBy/>
  <dcterms:modified xsi:type="dcterms:W3CDTF">2026-06-27T21:27:26Z</dcterms:modified>
  <cp:revision>2</cp:revision>
  <dc:subject>PptxGenJS Presentation</dc:subject>
  <dc:title>Maker100 Leaders Robotics — AI for Good Geneva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